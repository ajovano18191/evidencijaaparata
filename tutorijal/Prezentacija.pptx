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6.jpeg" ContentType="image/jpeg"/>
  <Override PartName="/ppt/media/image5.png" ContentType="image/png"/>
  <Override PartName="/ppt/media/image7.png" ContentType="image/png"/>
  <Override PartName="/ppt/media/image8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jpeg" ContentType="image/jpeg"/>
  <Override PartName="/ppt/media/image1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8D82FE-30F5-413F-9DEA-0BD7BD48915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sr-R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idnight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 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699126D-1AF1-4CA1-ADE9-53DA85C3C987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1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 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200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sr-R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ftr" idx="7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&lt;footer&gt;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6"/>
          <p:cNvSpPr>
            <a:spLocks noGrp="1"/>
          </p:cNvSpPr>
          <p:nvPr>
            <p:ph type="sldNum" idx="8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E58B735-BD62-4D0E-95F2-8A76F4DF5A72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&lt;number&gt;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7"/>
          <p:cNvSpPr>
            <a:spLocks noGrp="1"/>
          </p:cNvSpPr>
          <p:nvPr>
            <p:ph type="dt" idx="9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4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5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0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&lt;footer&gt;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1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CB45E19-650C-42F5-B5E1-94F2C6BB6152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&lt;number&gt;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2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3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4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ftr" idx="13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&lt;footer&gt;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sldNum" idx="14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779BEF3-2C64-4CE4-9029-CC223A293DEF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&lt;number&gt;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dt" idx="15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2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3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16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&lt;footer&gt;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17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970A186-F295-4BFC-937E-340EC092C59B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&lt;number&gt;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18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>
            <a:off x="0" y="5400000"/>
            <a:ext cx="10079640" cy="269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1" name=""/>
          <p:cNvSpPr/>
          <p:nvPr/>
        </p:nvSpPr>
        <p:spPr>
          <a:xfrm>
            <a:off x="0" y="0"/>
            <a:ext cx="10079640" cy="1214640"/>
          </a:xfrm>
          <a:prstGeom prst="rect">
            <a:avLst/>
          </a:prstGeom>
          <a:solidFill>
            <a:srgbClr val="2c3e50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2" name=""/>
          <p:cNvSpPr/>
          <p:nvPr/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315000" y="5175000"/>
            <a:ext cx="449640" cy="449640"/>
          </a:xfrm>
          <a:prstGeom prst="ellipse">
            <a:avLst/>
          </a:prstGeom>
          <a:solidFill>
            <a:srgbClr val="1abc9c"/>
          </a:solidFill>
          <a:ln w="0">
            <a:solidFill>
              <a:srgbClr val="1abc9c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sr-RS" sz="1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ftr" idx="19"/>
          </p:nvPr>
        </p:nvSpPr>
        <p:spPr>
          <a:xfrm>
            <a:off x="3420000" y="5400000"/>
            <a:ext cx="323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&lt;footer&gt;</a:t>
            </a:r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sldNum" idx="20"/>
          </p:nvPr>
        </p:nvSpPr>
        <p:spPr>
          <a:xfrm>
            <a:off x="9180000" y="5175000"/>
            <a:ext cx="719640" cy="44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35378B9-3799-45D2-9CD9-8CE4912403E4}" type="slidenum">
              <a:rPr b="1" lang="sr-RS" sz="18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&lt;number&gt;</a:t>
            </a:fld>
            <a:endParaRPr b="0" lang="sr-RS" sz="18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dt" idx="21"/>
          </p:nvPr>
        </p:nvSpPr>
        <p:spPr>
          <a:xfrm>
            <a:off x="360000" y="5400000"/>
            <a:ext cx="2879640" cy="269640"/>
          </a:xfrm>
          <a:prstGeom prst="rect">
            <a:avLst/>
          </a:prstGeom>
          <a:noFill/>
          <a:ln w="7200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sr-R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r-R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sr-R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478D7B-D7D0-4339-A9F9-DD438852DFA5}" type="slidenum">
              <a:rPr b="0" lang="sr-R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sr-RS" sz="14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  <a:endParaRPr b="0" lang="sr-R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504000" y="-86400"/>
            <a:ext cx="9071280" cy="1874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CI/CD Pipeline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subTitle"/>
          </p:nvPr>
        </p:nvSpPr>
        <p:spPr>
          <a:xfrm>
            <a:off x="504000" y="2160000"/>
            <a:ext cx="9071280" cy="245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r-RS" sz="32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Напредно софтверско инжењерство - Туторијал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r-RS" sz="32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Студент: Алекса Јовановић 2090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sr-RS" sz="32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Ментор: проф. др Александар Милосављевић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Проблем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Алтернатива документацијом вођених процеса развоја софтвера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11. – 13. 2. 2001. у The Lodge at Snowbird скијалишту у планинама Wastach у Јути 17 људи доноси – Agile manifesto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  <a:ea typeface="Microsoft YaHei"/>
              </a:rPr>
              <a:t>DevOps - </a:t>
            </a: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планирање, кодирање, изградња, тестирање, испорука, поставка, коришћење и надгледање софтвера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CI/CD – кључан део је аутоматизација тестирања софтвера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Тестирање софтвера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7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Троши од 40% до 70% укупног времена развоја софтвера.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Тестирање је процес извршавања програма са намером да се пронађу грешке.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По моделу водопада налази се након имплементације, а пре испоруке.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Код агилних модела тестирање се завршава у истој итерацији с програмирањем.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Аутоматизација тестирања софтвера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560" cy="37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Мануелно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Открива већину грешака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Људи боље посматрају и суде од алата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Није могуће све аутоматизовати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560" cy="353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indent="0" algn="ctr">
              <a:lnSpc>
                <a:spcPct val="100000"/>
              </a:lnSpc>
              <a:spcAft>
                <a:spcPts val="1057"/>
              </a:spcAft>
              <a:buNone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Аутоматизовано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Уштеда трошкова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Брже се долази до повратних информација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1" lang="sr-RS" sz="32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Раније откривање грешака</a:t>
            </a:r>
            <a:endParaRPr b="0" lang="sr-R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0808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Континуирана интеграција - Jenkins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DevOps пракса развоја софтвера где програмери редовно спајају своје промене кода у централно складиште, након чега се покрећу аутоматизоване изградње и тестови.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Предности су побољшана продуктивност програмера, бржи проналазак и адресирање грешке и бржа испорука ажурирања.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8053200" y="3420000"/>
            <a:ext cx="1306440" cy="17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Контејнеризација - Docker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Контејнеризација је процес постављања софтвера који повезује код апликације са свим датотекама и библиотекама које су јој потребне за покретање на било којој инфраструктури.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Предности су преносивост, скалабилност, отпорност на грешке и агилност. 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" descr=""/>
          <p:cNvPicPr/>
          <p:nvPr/>
        </p:nvPicPr>
        <p:blipFill>
          <a:blip r:embed="rId1"/>
          <a:stretch/>
        </p:blipFill>
        <p:spPr>
          <a:xfrm>
            <a:off x="6336000" y="3189960"/>
            <a:ext cx="2879640" cy="201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Kubernetes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7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Познат као K8s, је систем отвореног кода за аутоматизацију испоруке, скалирања и управљања контејнерским апликацијама.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Главне карактеристике су аутоматска поставка и враћање верзије, откривање сервиса и балансирање оптерећења, оркестрација складиштења, самоопоравак, управљање лозинкама и конфигурацијом, аутоматско паковање контејнера, извршавање batch -ева, хоризонтално скалирање, IPv4/IPv6 дупли стек и дизајниран за проширивост.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" name="" descr=""/>
          <p:cNvPicPr/>
          <p:nvPr/>
        </p:nvPicPr>
        <p:blipFill>
          <a:blip r:embed="rId1"/>
          <a:stretch/>
        </p:blipFill>
        <p:spPr>
          <a:xfrm>
            <a:off x="8315640" y="3600000"/>
            <a:ext cx="1584000" cy="153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Јединични тестови - NUnit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360000" y="1485000"/>
            <a:ext cx="9359640" cy="377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Процес у којем тестирате најмању функционалну јединицу кода.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Предности су ефикасно откривање грешака и документација.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5760000" y="3572640"/>
            <a:ext cx="3599640" cy="1467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End-to-end тестови - Playwright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53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Начин да се осигура да се апликације понашају како се очекује и да се ток података одржава за све врсте корисничких задатака и процеса.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Предности су побољшање корисничког искуства, смањење ризика од појаве грешака у производњи и откривање проблема са перформансама.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3" name="" descr=""/>
          <p:cNvPicPr/>
          <p:nvPr/>
        </p:nvPicPr>
        <p:blipFill>
          <a:blip r:embed="rId1"/>
          <a:stretch/>
        </p:blipFill>
        <p:spPr>
          <a:xfrm>
            <a:off x="2160000" y="3586320"/>
            <a:ext cx="7199640" cy="145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19800"/>
            <a:ext cx="3239640" cy="5649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4000" strike="noStrike" u="none">
                <a:solidFill>
                  <a:srgbClr val="2c3e50"/>
                </a:solidFill>
                <a:effectLst/>
                <a:uFillTx/>
                <a:latin typeface="Source Sans Pro Black"/>
              </a:rPr>
              <a:t>Архитектура апликације</a:t>
            </a:r>
            <a:endParaRPr b="0" lang="sr-R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" name="" descr=""/>
          <p:cNvPicPr/>
          <p:nvPr/>
        </p:nvPicPr>
        <p:blipFill>
          <a:blip r:embed="rId1"/>
          <a:stretch/>
        </p:blipFill>
        <p:spPr>
          <a:xfrm>
            <a:off x="3116160" y="0"/>
            <a:ext cx="6963480" cy="566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GMBase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" name="" descr=""/>
          <p:cNvPicPr/>
          <p:nvPr/>
        </p:nvPicPr>
        <p:blipFill>
          <a:blip r:embed="rId1"/>
          <a:stretch/>
        </p:blipFill>
        <p:spPr>
          <a:xfrm>
            <a:off x="883800" y="2880000"/>
            <a:ext cx="8312400" cy="278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" descr=""/>
          <p:cNvPicPr/>
          <p:nvPr/>
        </p:nvPicPr>
        <p:blipFill>
          <a:blip r:embed="rId2"/>
          <a:stretch/>
        </p:blipFill>
        <p:spPr>
          <a:xfrm>
            <a:off x="720000" y="180000"/>
            <a:ext cx="1463760" cy="251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" descr=""/>
          <p:cNvPicPr/>
          <p:nvPr/>
        </p:nvPicPr>
        <p:blipFill>
          <a:blip r:embed="rId3"/>
          <a:stretch/>
        </p:blipFill>
        <p:spPr>
          <a:xfrm>
            <a:off x="7460640" y="180000"/>
            <a:ext cx="1899000" cy="251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GMLocation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" name="" descr=""/>
          <p:cNvPicPr/>
          <p:nvPr/>
        </p:nvPicPr>
        <p:blipFill>
          <a:blip r:embed="rId1"/>
          <a:stretch/>
        </p:blipFill>
        <p:spPr>
          <a:xfrm>
            <a:off x="1231920" y="2880000"/>
            <a:ext cx="7615800" cy="2789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" descr=""/>
          <p:cNvPicPr/>
          <p:nvPr/>
        </p:nvPicPr>
        <p:blipFill>
          <a:blip r:embed="rId2"/>
          <a:stretch/>
        </p:blipFill>
        <p:spPr>
          <a:xfrm>
            <a:off x="7342560" y="153000"/>
            <a:ext cx="2017080" cy="2546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" descr=""/>
          <p:cNvPicPr/>
          <p:nvPr/>
        </p:nvPicPr>
        <p:blipFill>
          <a:blip r:embed="rId3"/>
          <a:stretch/>
        </p:blipFill>
        <p:spPr>
          <a:xfrm>
            <a:off x="716400" y="180000"/>
            <a:ext cx="1515240" cy="2612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Поставка апликације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0" y="1142280"/>
            <a:ext cx="10079640" cy="403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504000" y="208080"/>
            <a:ext cx="9071280" cy="1249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Аутоматизација испоруке и извршења тестова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" descr=""/>
          <p:cNvPicPr/>
          <p:nvPr/>
        </p:nvPicPr>
        <p:blipFill>
          <a:blip r:embed="rId1"/>
          <a:stretch/>
        </p:blipFill>
        <p:spPr>
          <a:xfrm>
            <a:off x="0" y="2192760"/>
            <a:ext cx="10079640" cy="1856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360000" y="225720"/>
            <a:ext cx="9359640" cy="71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sr-RS" sz="2700" strike="noStrike" u="none">
                <a:solidFill>
                  <a:srgbClr val="ffffff"/>
                </a:solidFill>
                <a:effectLst/>
                <a:uFillTx/>
                <a:latin typeface="Source Sans Pro Black"/>
              </a:rPr>
              <a:t>Закључак</a:t>
            </a:r>
            <a:endParaRPr b="0" lang="sr-RS" sz="27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280" cy="371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Имеплементација: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Апликације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Тестова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CI/CD процеса.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2c3e50"/>
              </a:buClr>
              <a:buSzPct val="45000"/>
              <a:buFont typeface="Wingdings" charset="2"/>
              <a:buChar char=""/>
            </a:pPr>
            <a:r>
              <a:rPr b="1" lang="sr-RS" sz="2400" strike="noStrike" u="none">
                <a:solidFill>
                  <a:srgbClr val="2c3e50"/>
                </a:solidFill>
                <a:effectLst/>
                <a:uFillTx/>
                <a:latin typeface="Source Sans Pro Semibold"/>
              </a:rPr>
              <a:t>Потенцијална унапређења:</a:t>
            </a:r>
            <a:endParaRPr b="0" lang="sr-R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Оптимизација изградњи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Увођење додатних врста тестирања и статичке провере кода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50"/>
              </a:spcAft>
              <a:buClr>
                <a:srgbClr val="2c3e50"/>
              </a:buClr>
              <a:buSzPct val="75000"/>
              <a:buFont typeface="Symbol" charset="2"/>
              <a:buChar char=""/>
            </a:pPr>
            <a:r>
              <a:rPr b="0" lang="sr-RS" sz="21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Тестирање самог CI/CD процеса</a:t>
            </a:r>
            <a:endParaRPr b="0" lang="sr-RS" sz="2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subTitle"/>
          </p:nvPr>
        </p:nvSpPr>
        <p:spPr>
          <a:xfrm>
            <a:off x="360000" y="1227240"/>
            <a:ext cx="9359640" cy="41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</a:pPr>
            <a:r>
              <a:rPr b="0" lang="sr-RS" sz="9600" strike="noStrike" u="none">
                <a:solidFill>
                  <a:srgbClr val="2c3e50"/>
                </a:solidFill>
                <a:effectLst/>
                <a:uFillTx/>
                <a:latin typeface="Source Sans Pro"/>
              </a:rPr>
              <a:t>ХВАЛА НА ПАЖЊИ!!!</a:t>
            </a:r>
            <a:endParaRPr b="0" lang="sr-RS" sz="9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description/>
  <dc:language>sr-RS</dc:language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